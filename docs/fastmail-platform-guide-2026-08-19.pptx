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731520" y="1463040"/>
            <a:ext cx="10698480" cy="2194560"/>
          </a:xfrm>
          <a:prstGeom prst="rect">
            <a:avLst/>
          </a:prstGeom>
          <a:noFill/>
        </p:spPr>
        <p:txBody>
          <a:bodyPr wrap="none">
            <a:spAutoFit/>
          </a:bodyPr>
          <a:lstStyle/>
          <a:p>
            <a:pPr>
              <a:defRPr sz="4200" b="1">
                <a:solidFill>
                  <a:srgbClr val="F5F7FA"/>
                </a:solidFill>
              </a:defRPr>
            </a:pPr>
            <a:r>
              <a:t>FastMail</a:t>
            </a:r>
            <a:br/>
            <a:r>
              <a:t>Platform Guide</a:t>
            </a:r>
          </a:p>
          <a:p>
            <a:pPr>
              <a:defRPr sz="1800">
                <a:solidFill>
                  <a:srgbClr val="F97316"/>
                </a:solidFill>
              </a:defRPr>
            </a:pPr>
            <a:r>
              <a:t>2026-08-19  •  https://mail.fastsme.com</a:t>
            </a:r>
          </a:p>
        </p:txBody>
      </p:sp>
      <p:sp>
        <p:nvSpPr>
          <p:cNvPr id="3" name="TextBox 2"/>
          <p:cNvSpPr txBox="1"/>
          <p:nvPr/>
        </p:nvSpPr>
        <p:spPr>
          <a:xfrm>
            <a:off x="731520" y="4206240"/>
            <a:ext cx="10241280" cy="1188720"/>
          </a:xfrm>
          <a:prstGeom prst="rect">
            <a:avLst/>
          </a:prstGeom>
          <a:noFill/>
        </p:spPr>
        <p:txBody>
          <a:bodyPr wrap="none">
            <a:spAutoFit/>
          </a:bodyPr>
          <a:lstStyle/>
          <a:p>
            <a:pPr>
              <a:defRPr sz="1600">
                <a:solidFill>
                  <a:srgbClr val="B1BCCC"/>
                </a:solidFill>
              </a:defRPr>
            </a:pPr>
            <a:r>
              <a:t>**FastMail** is an open-source **webmail client** built with — a server-side, HTMX-driven take on the *client* half of . Python-first, no JavaScript framework: folders, a message list, a threaded reading pane, compose, an address book, and **AI summarise-thread / draft-reply**.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An inbox built around getting work done.</a:t>
            </a:r>
          </a:p>
        </p:txBody>
      </p:sp>
      <p:pic>
        <p:nvPicPr>
          <p:cNvPr id="3" name="Picture 2" descr="01-an-inbox-built-around-getting-work-done.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TEAM EMAIL An inbox built around getting work done. Read threaded email, compose and organise messages, manage contacts and calendars, and draft faster with AI. Sign In or Register Explore the open-source suite → Product tour · see the workspace in action 01 T</a:t>
            </a:r>
          </a:p>
          <a:p>
            <a:pPr>
              <a:defRPr sz="900">
                <a:solidFill>
                  <a:srgbClr val="F97316"/>
                </a:solidFill>
              </a:defRPr>
            </a:pPr>
            <a:r>
              <a:t>https://mail.fastsme.com/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Build with the FastMail API.</a:t>
            </a:r>
          </a:p>
        </p:txBody>
      </p:sp>
      <p:pic>
        <p:nvPicPr>
          <p:cNvPr id="3" name="Picture 2" descr="02-build-with-the-fastmail-api.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FastMail Developers Back to product DEVELOPER PLATFORM · API V1 Build with the FastMail API. Read the live demo database through a typed, versioned API. Selected integration writes are implemented behind bearer-token authentication. Open Swagger UI Open ReDoc</a:t>
            </a:r>
          </a:p>
          <a:p>
            <a:pPr>
              <a:defRPr sz="900">
                <a:solidFill>
                  <a:srgbClr val="F97316"/>
                </a:solidFill>
              </a:defRPr>
            </a:pPr>
            <a:r>
              <a:t>https://mail.fastsme.com/developers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Sign in</a:t>
            </a:r>
          </a:p>
        </p:txBody>
      </p:sp>
      <p:pic>
        <p:nvPicPr>
          <p:cNvPr id="3" name="Picture 2" descr="03-sign-in.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Sign in with Google Sign in to continue to fastsme.com Email or phone Forgot email? Next Create account Afrikaans azərbaycan bosanski català Čeština Cymraeg Dansk Deutsch eesti English (United Kingdom) English (United States) Español (España) Español (Latinoam</a:t>
            </a:r>
          </a:p>
          <a:p>
            <a:pPr>
              <a:defRPr sz="900">
                <a:solidFill>
                  <a:srgbClr val="F97316"/>
                </a:solidFill>
              </a:defRPr>
            </a:pPr>
            <a:r>
              <a:t>https://accounts.google.com/v3/signin/identifier?opparams=%253F&amp;dsh=S960243515%3A1787122791160142&amp;access_type=online&amp;client_id=887059023987-2a7spj1m82eivobdbt1itb3cqca6tpt1.apps.googleusercontent.com&amp;o2v=2&amp;prompt=select_account&amp;redirect_uri=https%3A%2F%2Fmail.fastsme.com%2Fauth%2Fgoogle%2Fcallback&amp;response_type=code&amp;scope=openid+email+profile&amp;service=lso&amp;state=Ts7Ae8n26eaiepwwdNH8XmymKRHeFE4L_W8FcuuNtNM&amp;flowName=GeneralOAuthLite&amp;continue=https%3A%2F%2Faccounts.google.com%2Fsignin%2Foauth%2Flegacy%2Fconsent%3Fauthuser%3Dunknown%26part%3DAJi8hAO2tQ68nqvorkZeNv0w-caccZOTOq_EJwo3XG6mr2PuDIJHgHcKFrbjDl8EkDJxoHox2-uXth75y6AmLleSNl_t3SPTwb38UW6JLGmiBEkvLl2jtZ7-OFsAiNG4-X2tVaW-SJKEVaWPRnm4YIh3GifRAAZ528nptUwUqGC7ENOjeL3r0XvQuZvuUkavxtid4Dg8gy7xXZ7amwVNBmVSFTlwX6Y97cy1_BrxxEHD3rGK-8TjHe5S0cOz3W9248_BXlNRWKYoF5bmP9V49q8YoTDa7SLDUbNQCsTpY5spug4XI4pjhUYddwUk2rimBW6o0G6vQxH-ziF4NfTDCshnyFzSGipNepOjHF2fPM_odtXZXNxE4antvdp1MCbI9Dh7eMmxVGmzaH35355YGQPxH_RrzWJ2R4Xst6PnR3QLK8KhcIDf2UdLzSnxmxn_xt74-Aa4Okyl_ObZDM00_apgaUq3l93fFQ%26flowName%3DGeneralOAuthFlow%26as%3DS960243515%253A1787122791160142%26client_id%3D887059023987-2a7spj1m82eivobdbt1itb3cqca6tpt1.apps.googleusercontent.com%23&amp;app_domain=https%3A%2F%2Fmail.fastsme.com&amp;rart=ANgoxceAO616X5MvGSvbY2WfvepYQh1zhjrfzIrOYP7lEydthhCoLnxDTT2D29LeuomFs1Robk34XuHR9464nKoG-oiszf7nrNoaTIiQQQj8EgvHvaDcu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